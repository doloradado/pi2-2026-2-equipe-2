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0E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Padronização da Organização do Repositório</a:t>
            </a:r>
          </a:p>
          <a:p>
            <a:pPr algn="l">
              <a:spcBef>
                <a:spcPts val="1000"/>
              </a:spcBef>
            </a:pPr>
            <a:r>
              <a:rPr sz="2000" b="0">
                <a:solidFill>
                  <a:srgbClr val="BFD3E6"/>
                </a:solidFill>
                <a:latin typeface="Calibri"/>
              </a:rPr>
              <a:t>Convenções de branches, Issues, commits, Pull Requests e Kanban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E7A5F"/>
                </a:solidFill>
                <a:latin typeface="Calibri"/>
              </a:rPr>
              <a:t>Guia da equipe — 8 integrantes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</a:rPr>
              <a:t>1.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44444"/>
                </a:solidFill>
                <a:latin typeface="Calibri"/>
              </a:rPr>
              <a:t>Estabelecer um padrão para a organização do repositório e a colaboração entre os oito integrantes da equipe.</a:t>
            </a:r>
          </a:p>
          <a:p>
            <a:pPr algn="l"/>
            <a:r>
              <a:rPr sz="2000" b="0">
                <a:solidFill>
                  <a:srgbClr val="444444"/>
                </a:solidFill>
                <a:latin typeface="Calibri"/>
              </a:rPr>
              <a:t>• Definir convenções para branches, Issues, commits, Pull Requests (PRs) e Kanban.</a:t>
            </a:r>
          </a:p>
          <a:p>
            <a:pPr algn="l"/>
            <a:r>
              <a:rPr sz="2000" b="0">
                <a:solidFill>
                  <a:srgbClr val="444444"/>
                </a:solidFill>
                <a:latin typeface="Calibri"/>
              </a:rPr>
              <a:t>• Facilitar o acompanhamento das tarefas e a identificação de responsabilidades.</a:t>
            </a:r>
          </a:p>
          <a:p>
            <a:pPr algn="l"/>
            <a:r>
              <a:rPr sz="2000" b="0">
                <a:solidFill>
                  <a:srgbClr val="444444"/>
                </a:solidFill>
                <a:latin typeface="Calibri"/>
              </a:rPr>
              <a:t>• Integrar as diferentes áreas (frontend, backend, infra, chatbot, QA).</a:t>
            </a:r>
          </a:p>
          <a:p>
            <a:pPr algn="l">
              <a:spcBef>
                <a:spcPts val="1200"/>
              </a:spcBef>
            </a:pPr>
            <a:r>
              <a:rPr sz="2000" b="1">
                <a:solidFill>
                  <a:srgbClr val="0E7A5F"/>
                </a:solidFill>
                <a:latin typeface="Calibri"/>
              </a:rPr>
              <a:t>Sem criar burocracia desnecessária.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</a:rPr>
              <a:t>2. Organização das branches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E7A5F"/>
                </a:solidFill>
                <a:latin typeface="Calibri"/>
              </a:rPr>
              <a:t>Duas branches principais + branches de tarefa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15544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Consolas"/>
              </a:rPr>
              <a:t>main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444444"/>
                </a:solidFill>
                <a:latin typeface="Calibri"/>
              </a:rPr>
              <a:t>Versão estável do sistema: apenas código integrado, validado e pronto.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212080" cy="15544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Consolas"/>
              </a:rPr>
              <a:t>dev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444444"/>
                </a:solidFill>
                <a:latin typeface="Calibri"/>
              </a:rPr>
              <a:t>Integração das funcionalidades das áreas, com testes antes de promover para main.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07286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Calibri"/>
              </a:rPr>
              <a:t>Padrão de nomenclatura:</a:t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0E7A5F"/>
                </a:solidFill>
                <a:latin typeface="Consolas"/>
              </a:rPr>
              <a:t>tipo/numero-da-issue-descricao</a:t>
            </a:r>
          </a:p>
          <a:p>
            <a:pPr algn="l"/>
            <a:r>
              <a:rPr sz="1600" b="0">
                <a:solidFill>
                  <a:srgbClr val="444444"/>
                </a:solidFill>
                <a:latin typeface="Consolas"/>
              </a:rPr>
              <a:t>• feature/26-tela-login   •   fix/45-corrigir-login   •   style/52-identidade-visual</a:t>
            </a:r>
          </a:p>
          <a:p>
            <a:pPr algn="l"/>
            <a:r>
              <a:rPr sz="1600" b="0">
                <a:solidFill>
                  <a:srgbClr val="444444"/>
                </a:solidFill>
                <a:latin typeface="Consolas"/>
              </a:rPr>
              <a:t>• refactor/60-organizar-api   •   test/70-testes-login   •   docs/75-atualizar-readme   •   chore/80-configurar-docker</a:t>
            </a:r>
          </a:p>
          <a:p>
            <a:pPr algn="l"/>
            <a:r>
              <a:rPr sz="1600" b="0">
                <a:solidFill>
                  <a:srgbClr val="444444"/>
                </a:solidFill>
                <a:latin typeface="Calibri"/>
              </a:rPr>
              <a:t>• Letras minúsculas, hífens, sem espaços/acentos; incluir o número da Issue.</a:t>
            </a:r>
          </a:p>
          <a:p>
            <a:pPr algn="l"/>
            <a:r>
              <a:rPr sz="1600" b="0">
                <a:solidFill>
                  <a:srgbClr val="444444"/>
                </a:solidFill>
                <a:latin typeface="Calibri"/>
              </a:rPr>
              <a:t>• Branches de trabalho representam tarefas específicas — nada de branches permanentes por integrante.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</a:rPr>
              <a:t>3. Padronização das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E7A5F"/>
                </a:solidFill>
                <a:latin typeface="Calibri"/>
              </a:rPr>
              <a:t>Issues representam tarefas, correções, testes ou atividades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Calibri"/>
              </a:rPr>
              <a:t>Padrão para os títulos:</a:t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0E7A5F"/>
                </a:solidFill>
                <a:latin typeface="Consolas"/>
              </a:rPr>
              <a:t>[Área] Ação ou objetivo</a:t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onsolas"/>
              </a:rPr>
              <a:t>• [Frontend] Implementar tela de login</a:t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onsolas"/>
              </a:rPr>
              <a:t>• [Backend] Criar endpoint de autenticação</a:t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onsolas"/>
              </a:rPr>
              <a:t>• [Chatbot] Integrar Gemini</a:t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onsolas"/>
              </a:rPr>
              <a:t>• [Infra] Configurar Docker Compose</a:t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onsolas"/>
              </a:rPr>
              <a:t>• [QA] Testar fluxo de atendimento</a:t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onsolas"/>
              </a:rPr>
              <a:t>• [Documentação] Atualizar README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444444"/>
                </a:solidFill>
                <a:latin typeface="Calibri"/>
              </a:rPr>
              <a:t>O nome da área facilita identificar assunto e responsável.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554480"/>
            <a:ext cx="4572000" cy="4663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73736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Calibri"/>
              </a:rPr>
              <a:t>Modelo do corpo da Issue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0E7A5F"/>
                </a:solidFill>
                <a:latin typeface="Consolas"/>
              </a:rPr>
              <a:t>## Objetivo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O que precisa ser feito.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0E7A5F"/>
                </a:solidFill>
                <a:latin typeface="Consolas"/>
              </a:rPr>
              <a:t>## Critérios de aceitação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[ ] Critérios verificáveis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0E7A5F"/>
                </a:solidFill>
                <a:latin typeface="Consolas"/>
              </a:rPr>
              <a:t>## Dependências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Outras Issues necessárias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0E7A5F"/>
                </a:solidFill>
                <a:latin typeface="Consolas"/>
              </a:rPr>
              <a:t>## Observações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Informações adicionais</a:t>
            </a:r>
          </a:p>
          <a:p>
            <a:pPr algn="l">
              <a:spcBef>
                <a:spcPts val="1400"/>
              </a:spcBef>
            </a:pPr>
            <a:r>
              <a:rPr sz="1400" b="1">
                <a:solidFill>
                  <a:srgbClr val="1B2A4A"/>
                </a:solidFill>
                <a:latin typeface="Calibri"/>
              </a:rPr>
              <a:t>Toda Issue deve ter responsável, critérios de aceitação e dependências identificadas.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</a:rPr>
              <a:t>4. Padronização dos commits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E7A5F"/>
                </a:solidFill>
                <a:latin typeface="Calibri"/>
              </a:rPr>
              <a:t>Cada commit descreve objetivamente uma mudança lógica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Calibri"/>
              </a:rPr>
              <a:t>Formato:</a:t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0E7A5F"/>
                </a:solidFill>
                <a:latin typeface="Consolas"/>
              </a:rPr>
              <a:t>tipo(área): descrição (#issue)</a:t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onsolas"/>
              </a:rPr>
              <a:t>• feat(frontend): implementar tela de login (#26)</a:t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onsolas"/>
              </a:rPr>
              <a:t>• fix(backend): corrigir autenticacao (#45)   •   style(frontend): ajustar cores e fontes (#52)</a:t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onsolas"/>
              </a:rPr>
              <a:t>• refactor(backend): reorganizar camada de servicos (#60)   •   test(frontend): adicionar testes do login (#70)</a:t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onsolas"/>
              </a:rPr>
              <a:t>• docs: atualizar README (#75)   •   chore(infra): atualizar configuracao do Docker (#80)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7286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Calibri"/>
              </a:rPr>
              <a:t>Quantidade de commits</a:t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Um commit representa uma mudança lógica — não necessariamente um único arquivo.</a:t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Ex.: cores, fontes e botões da mesma tarefa de identidade visual → um único commit.</a:t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Mudanças independentes podem ser separadas em commits distintos.</a:t>
            </a:r>
          </a:p>
          <a:p>
            <a:pPr algn="l">
              <a:spcBef>
                <a:spcPts val="1200"/>
              </a:spcBef>
            </a:pPr>
            <a:r>
              <a:rPr sz="1700" b="1">
                <a:solidFill>
                  <a:srgbClr val="0E7A5F"/>
                </a:solidFill>
                <a:latin typeface="Calibri"/>
              </a:rPr>
              <a:t>Regra prática: uma Issue = uma tarefa lógica; uma branch = essa tarefa; cada commit = uma mudança lógica.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</a:rPr>
              <a:t>Tipos de commit e quando usar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937760"/>
                <a:gridCol w="4572000"/>
              </a:tblGrid>
              <a:tr h="60579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Quando usar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Exemplo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7A5F"/>
                          </a:solidFill>
                          <a:latin typeface="Consolas"/>
                        </a:rPr>
                        <a:t>feat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Implementar funcionalidade nova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Criar tela de login ou endpoint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7A5F"/>
                          </a:solidFill>
                          <a:latin typeface="Consolas"/>
                        </a:rPr>
                        <a:t>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Corrigir um defeito existente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Redirecionamento que não funciona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7A5F"/>
                          </a:solidFill>
                          <a:latin typeface="Consolas"/>
                        </a:rPr>
                        <a:t>style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Só apresentação visual, sem mudar comportamento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Ajustar cores, fontes, botões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7A5F"/>
                          </a:solidFill>
                          <a:latin typeface="Consolas"/>
                        </a:rPr>
                        <a:t>refactor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Melhorar organização interna sem mudar resultado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Separar responsabilidades, reorganizar serviços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7A5F"/>
                          </a:solidFill>
                          <a:latin typeface="Consolas"/>
                        </a:rPr>
                        <a:t>test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Criar, atualizar ou organizar testes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Testes do login ou da API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7A5F"/>
                          </a:solidFill>
                          <a:latin typeface="Consolas"/>
                        </a:rPr>
                        <a:t>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Criar ou atualizar documentação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README, diagramas, instruções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7A5F"/>
                          </a:solidFill>
                          <a:latin typeface="Consolas"/>
                        </a:rPr>
                        <a:t>chore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Manutenção e configuração geral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Atualizar dependências, configs de ferramentas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Convenção interna da equipe — não são todos obrigatórios pelo GitHub.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</a:rPr>
              <a:t>5. Padronização dos Pull Requests (PRs)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E7A5F"/>
                </a:solidFill>
                <a:latin typeface="Calibri"/>
              </a:rPr>
              <a:t>Propor alterações, revisar código e integrar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760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B2A4A"/>
                </a:solidFill>
                <a:latin typeface="Calibri"/>
              </a:rPr>
              <a:t>Título do PR:</a:t>
            </a:r>
          </a:p>
          <a:p>
            <a:pPr algn="l">
              <a:spcBef>
                <a:spcPts val="400"/>
              </a:spcBef>
            </a:pPr>
            <a:r>
              <a:rPr sz="1900" b="1">
                <a:solidFill>
                  <a:srgbClr val="0E7A5F"/>
                </a:solidFill>
                <a:latin typeface="Consolas"/>
              </a:rPr>
              <a:t>tipo(área): descrição (#issue)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444444"/>
                </a:solidFill>
                <a:latin typeface="Consolas"/>
              </a:rPr>
              <a:t>Ex.: feat(frontend): implementar tela de login (#26)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• Branches usam feature; commits e títulos de PR usam feat.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• Escopo claro, testes informados e revisão por outro integrante antes do merge.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80560"/>
            <a:ext cx="5760720" cy="19202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2A4A"/>
                </a:solidFill>
                <a:latin typeface="Calibri"/>
              </a:rPr>
              <a:t>Quando usar Closes #26</a:t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• PR de branch → dev: usar Refs #26 (não fecha a Issue).</a:t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• PR de dev → main: usar Closes #26 para Issues concluídas.</a:t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• O comando não move a Issue entre status do Kanban.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54480"/>
            <a:ext cx="4663440" cy="48463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73736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B2A4A"/>
                </a:solidFill>
                <a:latin typeface="Calibri"/>
              </a:rPr>
              <a:t>Modelo do corpo do PR</a:t>
            </a:r>
          </a:p>
          <a:p>
            <a:pPr algn="l">
              <a:spcBef>
                <a:spcPts val="1200"/>
              </a:spcBef>
            </a:pPr>
            <a:r>
              <a:rPr sz="1500" b="1">
                <a:solidFill>
                  <a:srgbClr val="0E7A5F"/>
                </a:solidFill>
                <a:latin typeface="Consolas"/>
              </a:rPr>
              <a:t>## O que foi feito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444444"/>
                </a:solidFill>
                <a:latin typeface="Calibri"/>
              </a:rPr>
              <a:t>Implementações e alterações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0E7A5F"/>
                </a:solidFill>
                <a:latin typeface="Consolas"/>
              </a:rPr>
              <a:t>## Testes realizados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444444"/>
                </a:solidFill>
                <a:latin typeface="Calibri"/>
              </a:rPr>
              <a:t>[ ] Cenários testados e critérios verificados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0E7A5F"/>
                </a:solidFill>
                <a:latin typeface="Consolas"/>
              </a:rPr>
              <a:t>## Como validar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444444"/>
                </a:solidFill>
                <a:latin typeface="Calibri"/>
              </a:rPr>
              <a:t>Como reproduzir/testar a funcionalidade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0E7A5F"/>
                </a:solidFill>
                <a:latin typeface="Consolas"/>
              </a:rPr>
              <a:t>## Issue relacionada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444444"/>
                </a:solidFill>
                <a:latin typeface="Consolas"/>
              </a:rPr>
              <a:t>Refs #26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</a:rPr>
              <a:t>6. Fluxo de trabalho com Git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5394960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1. Issue criada e definida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2037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7A5F"/>
                </a:solidFill>
                <a:latin typeface="Calibri"/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00200"/>
            <a:ext cx="5394960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2. Branch criada a partir de 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2037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7A5F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5394960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8775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3. Implementação e commits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7A5F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514600"/>
            <a:ext cx="5394960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58775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4. PR para 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1181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7A5F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29000"/>
            <a:ext cx="5394960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0215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5. Revisão e integração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0325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7A5F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429000"/>
            <a:ext cx="5394960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50215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6. QA testa a implementação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0325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7A5F"/>
                </a:solidFill>
                <a:latin typeface="Calibr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43400"/>
            <a:ext cx="5394960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1655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7. Correção de pendências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469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7A5F"/>
                </a:solidFill>
                <a:latin typeface="Calibr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343400"/>
            <a:ext cx="5394960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41655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8. Testes de integração do sistema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9469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7A5F"/>
                </a:solidFill>
                <a:latin typeface="Calibr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257800"/>
            <a:ext cx="5394960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3095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9. PR de dev para main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8613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7A5F"/>
                </a:solidFill>
                <a:latin typeface="Calibri"/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257800"/>
            <a:ext cx="5394960" cy="658368"/>
          </a:xfrm>
          <a:prstGeom prst="rect">
            <a:avLst/>
          </a:prstGeom>
          <a:solidFill>
            <a:srgbClr val="0E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33095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10. main permanece estável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1722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Impedir alterações diretas em main; integrar sempre por PR, com revisões e verificações de testes antes do merge.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</a:rPr>
              <a:t>7. Padronização do Kanban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E7A5F"/>
                </a:solidFill>
                <a:latin typeface="Calibri"/>
              </a:rPr>
              <a:t>Cinco status — 'Ready' significa pronto para análise do QA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778240"/>
              </a:tblGrid>
              <a:tr h="54864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Significado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E7A5F"/>
                          </a:solidFill>
                          <a:latin typeface="Consolas"/>
                        </a:rPr>
                        <a:t>Backlog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Calibri"/>
                        </a:rPr>
                        <a:t>Tarefa ainda não iniciada ou que precisa ser priorizada e preparada.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E7A5F"/>
                          </a:solidFill>
                          <a:latin typeface="Consolas"/>
                        </a:rP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Calibri"/>
                        </a:rPr>
                        <a:t>O desenvolvedor está trabalhando na tarefa.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E7A5F"/>
                          </a:solidFill>
                          <a:latin typeface="Consolas"/>
                        </a:rPr>
                        <a:t>Ready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Calibri"/>
                        </a:rPr>
                        <a:t>Implementação concluída, aguardando o QA iniciar a análise.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E7A5F"/>
                          </a:solidFill>
                          <a:latin typeface="Consolas"/>
                        </a:rPr>
                        <a:t>In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Calibri"/>
                        </a:rPr>
                        <a:t>O QA está analisando a implementação e executando os testes.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E7A5F"/>
                          </a:solidFill>
                          <a:latin typeface="Consolas"/>
                        </a:rPr>
                        <a:t>Done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  <a:latin typeface="Calibri"/>
                        </a:rPr>
                        <a:t>QA aprovou e a tarefa foi integrada à dev, atendendo aos critérios de conclusão.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074920"/>
            <a:ext cx="109115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2A4A"/>
                </a:solidFill>
                <a:latin typeface="Calibri"/>
              </a:rPr>
              <a:t>Transições: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444444"/>
                </a:solidFill>
                <a:latin typeface="Calibri"/>
              </a:rPr>
              <a:t>Backlog → In progress → Ready → In review  →  Aprovado: Done  |  Reprovado: volta para In progress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444444"/>
                </a:solidFill>
                <a:latin typeface="Calibri"/>
              </a:rPr>
              <a:t>A promoção de dev para main é tratada como etapa de validação e liberação do conjunto do sistema.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0E7A5F"/>
                </a:solidFill>
                <a:latin typeface="Calibri"/>
              </a:rPr>
              <a:t>Só marcar como Ready quando o QA conseguir acessar a versão a testar.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</a:rPr>
              <a:t>Kanban — responsabilidades e automação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394960" cy="24688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E7A5F"/>
                </a:solidFill>
                <a:latin typeface="Calibri"/>
              </a:rPr>
              <a:t>Desenvolvedor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• Move para In progress ao começar.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• Move para Ready quando a implementação estiver disponível para o QA.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• Corrige defeitos e devolve para Ready quando pronta para reteste.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394960" cy="24688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E7A5F"/>
                </a:solidFill>
                <a:latin typeface="Calibri"/>
              </a:rPr>
              <a:t>QA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• Move para In review ao iniciar a análise.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• Registra testes, evidências e defeitos encontrados.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• Devolve para In progress se houver defeitos; move para Done após aprovação e integração em dev.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109728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43484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B2A4A"/>
                </a:solidFill>
                <a:latin typeface="Calibri"/>
              </a:rPr>
              <a:t>Automação do Kanban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• Não existe comando que mova a Issue sozinho de In progress para Ready — GitHub Projects tem automações configuráveis (Workflows).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• Recomendação inicial: dev move manualmente para Ready; QA move para In review e, depois, para Done.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• Verificar workflows ativos para evitar conclusão antes do QA; avaliar GitHub Actions e API do Projects quando o processo estiver consolidado.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</a:rPr>
              <a:t>8. Regras gerais para a equipe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>
                <a:solidFill>
                  <a:srgbClr val="444444"/>
                </a:solidFill>
                <a:latin typeface="Calibri"/>
              </a:rPr>
              <a:t>✓ Toda tarefa relevante deve ter uma Issue com objetivo claro e critérios de aceitação.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44444"/>
                </a:solidFill>
                <a:latin typeface="Calibri"/>
              </a:rPr>
              <a:t>✓ Cada Issue deve ter um responsável definido quando possível.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44444"/>
                </a:solidFill>
                <a:latin typeface="Calibri"/>
              </a:rPr>
              <a:t>✓ Branches seguem a convenção de nomenclatura aprovada.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44444"/>
                </a:solidFill>
                <a:latin typeface="Calibri"/>
              </a:rPr>
              <a:t>✓ Commits objetivos, representando mudanças lógicas.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44444"/>
                </a:solidFill>
                <a:latin typeface="Calibri"/>
              </a:rPr>
              <a:t>✓ PRs indicam as Issues relacionadas e descrevem os testes realizados.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44444"/>
                </a:solidFill>
                <a:latin typeface="Calibri"/>
              </a:rPr>
              <a:t>✓ Alterações passam por revisão antes da integração nas branches principais.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44444"/>
                </a:solidFill>
                <a:latin typeface="Calibri"/>
              </a:rPr>
              <a:t>✓ Kanban reflete o estado real do trabalho, incluindo tarefas aguardando QA.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44444"/>
                </a:solidFill>
                <a:latin typeface="Calibri"/>
              </a:rPr>
              <a:t>✓ Defeitos encontrados devem ser registrados e acompanhados até a correção.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44444"/>
                </a:solidFill>
                <a:latin typeface="Calibri"/>
              </a:rPr>
              <a:t>✓ Evitar regras excessivas e automações que prejudiquem o fluxo.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44444"/>
                </a:solidFill>
                <a:latin typeface="Calibri"/>
              </a:rPr>
              <a:t>✓ A main recebe apenas a versão estável e validada.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</a:rPr>
              <a:t>9. Resumo das convenções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566160" cy="42062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7A5F"/>
                </a:solidFill>
                <a:latin typeface="Calibri"/>
              </a:rPr>
              <a:t>Branches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444444"/>
                </a:solidFill>
                <a:latin typeface="Consolas"/>
              </a:rPr>
              <a:t>main → estável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44444"/>
                </a:solidFill>
                <a:latin typeface="Consolas"/>
              </a:rPr>
              <a:t>dev → integração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444444"/>
                </a:solidFill>
                <a:latin typeface="Consolas"/>
              </a:rPr>
              <a:t>feature/26-tela-login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44444"/>
                </a:solidFill>
                <a:latin typeface="Consolas"/>
              </a:rPr>
              <a:t>fix/45-corrigir-login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44444"/>
                </a:solidFill>
                <a:latin typeface="Consolas"/>
              </a:rPr>
              <a:t>style/52-identidade-visual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44444"/>
                </a:solidFill>
                <a:latin typeface="Consolas"/>
              </a:rPr>
              <a:t>chore/80-configurar-docker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554480"/>
            <a:ext cx="3566160" cy="42062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9164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7A5F"/>
                </a:solidFill>
                <a:latin typeface="Calibri"/>
              </a:rPr>
              <a:t>Issues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444444"/>
                </a:solidFill>
                <a:latin typeface="Consolas"/>
              </a:rPr>
              <a:t>[Frontend] Implementar tela de login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44444"/>
                </a:solidFill>
                <a:latin typeface="Consolas"/>
              </a:rPr>
              <a:t>[Backend] Criar endpoint de autenticação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44444"/>
                </a:solidFill>
                <a:latin typeface="Consolas"/>
              </a:rPr>
              <a:t>[QA] Testar fluxo de atendimento</a:t>
            </a:r>
          </a:p>
          <a:p>
            <a:pPr algn="l">
              <a:spcBef>
                <a:spcPts val="1400"/>
              </a:spcBef>
            </a:pPr>
            <a:r>
              <a:rPr sz="1800" b="1">
                <a:solidFill>
                  <a:srgbClr val="0E7A5F"/>
                </a:solidFill>
                <a:latin typeface="Calibri"/>
              </a:rPr>
              <a:t>Commits e PRs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444444"/>
                </a:solidFill>
                <a:latin typeface="Consolas"/>
              </a:rPr>
              <a:t>feat(frontend): implementar tela de login (#26)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44444"/>
                </a:solidFill>
                <a:latin typeface="Consolas"/>
              </a:rPr>
              <a:t>fix(backend): corrigir autenticacao (#45)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554480"/>
            <a:ext cx="3474720" cy="42062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916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7A5F"/>
                </a:solidFill>
                <a:latin typeface="Calibri"/>
              </a:rPr>
              <a:t>Kanban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444444"/>
                </a:solidFill>
                <a:latin typeface="Consolas"/>
              </a:rPr>
              <a:t>Backlog → In progress → Ready → In review → Done</a:t>
            </a:r>
          </a:p>
          <a:p>
            <a:pPr algn="l">
              <a:spcBef>
                <a:spcPts val="1600"/>
              </a:spcBef>
            </a:pPr>
            <a:r>
              <a:rPr sz="1800" b="1">
                <a:solidFill>
                  <a:srgbClr val="0E7A5F"/>
                </a:solidFill>
                <a:latin typeface="Calibri"/>
              </a:rPr>
              <a:t>Fluxo geral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Issue → Branch → Commits → PR para dev → Integração e QA → Testes do sistema → PR de dev para main → main estável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A proposta deve ser discutida e aprovada por todos os integrantes antes de se tornar a convenção oficial.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73152"/>
          </a:xfrm>
          <a:prstGeom prst="rect">
            <a:avLst/>
          </a:prstGeom>
          <a:solidFill>
            <a:srgbClr val="0E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Obrigado!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BFD3E6"/>
                </a:solidFill>
                <a:latin typeface="Calibri"/>
              </a:rPr>
              <a:t>Dúvidas e sugestões para aprimorar o padrão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